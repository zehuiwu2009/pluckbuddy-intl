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1069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napToObjects="1">
      <p:cViewPr varScale="1">
        <p:scale>
          <a:sx n="69" d="100"/>
          <a:sy n="69" d="100"/>
        </p:scale>
        <p:origin x="251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Box 1"/>
          <ns0:cNvSpPr txBox="1"/>
          <ns0:nvPr/>
        </ns0:nvSpPr>
        <ns0:spPr>
          <ns1:xfrm>
            <ns1:off x="407055" y="123886"/>
            <ns1:ext cx="10158689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 algn="ctr"/>
            <ns1:r>
              <ns1:rPr sz="2020" b="0">
                <ns1:solidFill>
                  <ns1:srgbClr val="1A1A1A"/>
                </ns1:solidFill>
                <ns1:latin typeface="Times New Roman"/>
                <ns1:ea typeface="宋体"/>
              </ns1:rPr>
              <ns1:t>Figure 1  PluckBuddy Fully Offline On-Device Architecture</ns1:t>
            </ns1:r>
          </ns1:p>
        </ns0:txBody>
      </ns0:sp>
      <ns0:sp>
        <ns0:nvSpPr>
          <ns0:cNvPr id="3" name="Rounded Rectangle 2"/>
          <ns0:cNvSpPr/>
          <ns0:nvPr/>
        </ns0:nvSpPr>
        <ns0:spPr>
          <ns1:xfrm>
            <ns1:off x="407055" y="654828"/>
            <ns1:ext cx="10158689" cy="1769806"/>
          </ns1:xfrm>
          <ns1:prstGeom prst="roundRect">
            <ns1:avLst>
              <ns1:gd name="adj" fmla="val 6000"/>
            </ns1:avLst>
          </ns1:prstGeom>
          <ns1:solidFill>
            <ns1:srgbClr val="F8F9FB"/>
          </ns1:solidFill>
          <ns1:ln w="20320">
            <ns1:solidFill>
              <ns1:srgbClr val="D5D9E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endParaRPr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530941" y="752167"/>
            <ns1:ext cx="2103120" cy="336263"/>
          </ns1:xfrm>
          <ns1:prstGeom prst="roundRect">
            <ns1:avLst>
              <ns1:gd name="adj" fmla="val 18421"/>
            </ns1:avLst>
          </ns1:prstGeom>
          <ns1:solidFill>
            <ns1:srgbClr val="2C6BED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r>
              <ns1:rPr sz="1741" b="0">
                <ns1:solidFill>
                  <ns1:srgbClr val="FFFFFF"/>
                </ns1:solidFill>
                <ns1:latin typeface="Times New Roman"/>
                <ns1:ea typeface="宋体"/>
              </ns1:rPr>
              <ns1:t>1. Capture Layer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654828" y="1106129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Microphone AVAudioEngine: 48 kHz real-time audio stream, 4096-sample buffer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54828" y="1460090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Camera AVCaptureSession: per-frame CVPixelBuffer callbacks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4828" y="1814051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Device: universal iPhone / iPad</ns1:t>
            </ns1:r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407055" y="2583917"/>
            <ns1:ext cx="10158689" cy="2477729"/>
          </ns1:xfrm>
          <ns1:prstGeom prst="roundRect">
            <ns1:avLst>
              <ns1:gd name="adj" fmla="val 4285"/>
            </ns1:avLst>
          </ns1:prstGeom>
          <ns1:solidFill>
            <ns1:srgbClr val="F8F9FB"/>
          </ns1:solidFill>
          <ns1:ln w="20320">
            <ns1:solidFill>
              <ns1:srgbClr val="D5D9E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530941" y="2681256"/>
            <ns1:ext cx="3108960" cy="336263"/>
          </ns1:xfrm>
          <ns1:prstGeom prst="roundRect">
            <ns1:avLst>
              <ns1:gd name="adj" fmla="val 18421"/>
            </ns1:avLst>
          </ns1:prstGeom>
          <ns1:solidFill>
            <ns1:srgbClr val="7A3ECD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r>
              <ns1:rPr sz="1741" b="0">
                <ns1:solidFill>
                  <ns1:srgbClr val="FFFFFF"/>
                </ns1:solidFill>
                <ns1:latin typeface="Times New Roman"/>
                <ns1:ea typeface="宋体"/>
              </ns1:rPr>
              <ns1:t>2. Signal Processing Layer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4828" y="3035218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Audio Accelerate/vDSP: vDSP_DFT_zrop FFT extracts pitch, harmonic ratio, spectral centroid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654828" y="3389179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　　Onset + envelope decay finds pluck attacks; RMS/peak thresholds reject noise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4828" y="3743140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Rhythm: pluck-event detection → BPM estimation; tremolo and sweep identified separately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654828" y="4097101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Hand Shape Vision: VNDetectHumanHandPoseRequest extracts 21 hand landmarks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654828" y="4451063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　　Simplified Kalman filter removes jitter; tiger mouth angle, wrist, openness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407055" y="5220929"/>
            <ns1:ext cx="10158689" cy="1415845"/>
          </ns1:xfrm>
          <ns1:prstGeom prst="roundRect">
            <ns1:avLst>
              <ns1:gd name="adj" fmla="val 7500"/>
            </ns1:avLst>
          </ns1:prstGeom>
          <ns1:solidFill>
            <ns1:srgbClr val="F8F9FB"/>
          </ns1:solidFill>
          <ns1:ln w="20320">
            <ns1:solidFill>
              <ns1:srgbClr val="D5D9E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endParaRPr/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530941" y="5318268"/>
            <ns1:ext cx="1874519" cy="336263"/>
          </ns1:xfrm>
          <ns1:prstGeom prst="roundRect">
            <ns1:avLst>
              <ns1:gd name="adj" fmla="val 18421"/>
            </ns1:avLst>
          </ns1:prstGeom>
          <ns1:solidFill>
            <ns1:srgbClr val="C2410C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r>
              <ns1:rPr sz="1741" b="0">
                <ns1:solidFill>
                  <ns1:srgbClr val="FFFFFF"/>
                </ns1:solidFill>
                <ns1:latin typeface="Times New Roman"/>
                <ns1:ea typeface="宋体"/>
              </ns1:rPr>
              <ns1:t>3. Model Layer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654828" y="5672229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Core ML runs the self-trained Create ML sound classifier PipaSoundClassifier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654828" y="6026190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16 kHz input, four classes (pipa / other instrument / speech / background), on-device inference</ns1:t>
            </ns1:r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407055" y="6796056"/>
            <ns1:ext cx="10158689" cy="1769806"/>
          </ns1:xfrm>
          <ns1:prstGeom prst="roundRect">
            <ns1:avLst>
              <ns1:gd name="adj" fmla="val 6000"/>
            </ns1:avLst>
          </ns1:prstGeom>
          <ns1:solidFill>
            <ns1:srgbClr val="F8F9FB"/>
          </ns1:solidFill>
          <ns1:ln w="20320">
            <ns1:solidFill>
              <ns1:srgbClr val="D5D9E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endParaRPr/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530941" y="6893396"/>
            <ns1:ext cx="2423160" cy="336263"/>
          </ns1:xfrm>
          <ns1:prstGeom prst="roundRect">
            <ns1:avLst>
              <ns1:gd name="adj" fmla="val 18421"/>
            </ns1:avLst>
          </ns1:prstGeom>
          <ns1:solidFill>
            <ns1:srgbClr val="0F766E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r>
              <ns1:rPr sz="1741" b="0">
                <ns1:solidFill>
                  <ns1:srgbClr val="FFFFFF"/>
                </ns1:solidFill>
                <ns1:latin typeface="Times New Roman"/>
                <ns1:ea typeface="宋体"/>
              </ns1:rPr>
              <ns1:t>4. Evaluation Layer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654828" y="7247357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Technique recognition: audio + video cross-validation identifies pluck / tremolo / sweep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654828" y="7601318"/>
            <ns1:ext cx="10268712" cy="289438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 dirty="0" err="1">
                <ns1:solidFill>
                  <ns1:srgbClr val="262626"/>
                </ns1:solidFill>
                <ns1:latin typeface="Times New Roman"/>
                <ns1:ea typeface="宋体"/>
              </ns1:rPr>
              <ns1:t>Playing metrics: speed, stability, evenness, strength</ns1:t>
            </ns1:r>
            <ns1:r>
              <ns1:rPr lang="zh-CN" altLang="en-US" sz="1881" b="0" dirty="0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 err="1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endParaRPr sz="1881" b="0" dirty="0">
              <ns1:solidFill>
                <ns1:srgbClr val="262626"/>
              </ns1:solidFill>
              <ns1:latin typeface="Times New Roman"/>
              <ns1:ea typeface="宋体"/>
            </ns1:endParaRP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654828" y="7955280"/>
            <ns1:ext cx="10268712" cy="289438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 dirty="0" err="1">
                <ns1:solidFill>
                  <ns1:srgbClr val="262626"/>
                </ns1:solidFill>
                <ns1:latin typeface="Times New Roman"/>
                <ns1:ea typeface="宋体"/>
              </ns1:rPr>
              <ns1:t>Hand metrics: tiger mouth angle, wrist height, openness, contact point → improvement tips</ns1:t>
            </ns1:r>
            <ns1:r>
              <ns1:rPr lang="zh-CN" altLang="en-US" sz="1881" b="0" dirty="0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 err="1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r>
              <ns1:rPr sz="1881" b="0" dirty="0" err="1">
                <ns1:solidFill>
                  <ns1:srgbClr val="262626"/>
                </ns1:solidFill>
                <ns1:latin typeface="Times New Roman"/>
                <ns1:ea typeface="宋体"/>
              </ns1:rPr>
              <ns1:t/>
            </ns1:r>
            <ns1:endParaRPr sz="1881" b="0" dirty="0">
              <ns1:solidFill>
                <ns1:srgbClr val="262626"/>
              </ns1:solidFill>
              <ns1:latin typeface="Times New Roman"/>
              <ns1:ea typeface="宋体"/>
            </ns1:endParaRP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407055" y="8725145"/>
            <ns1:ext cx="10158689" cy="1415845"/>
          </ns1:xfrm>
          <ns1:prstGeom prst="roundRect">
            <ns1:avLst>
              <ns1:gd name="adj" fmla="val 7500"/>
            </ns1:avLst>
          </ns1:prstGeom>
          <ns1:solidFill>
            <ns1:srgbClr val="F8F9FB"/>
          </ns1:solidFill>
          <ns1:ln w="20320">
            <ns1:solidFill>
              <ns1:srgbClr val="D5D9E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endParaRPr/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530941" y="8822485"/>
            <ns1:ext cx="2560320" cy="336263"/>
          </ns1:xfrm>
          <ns1:prstGeom prst="roundRect">
            <ns1:avLst>
              <ns1:gd name="adj" fmla="val 18421"/>
            </ns1:avLst>
          </ns1:prstGeom>
          <ns1:solidFill>
            <ns1:srgbClr val="B45309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lIns="0" tIns="0" rIns="0" bIns="0" rtlCol="0" anchor="ctr"/>
          <ns1:lstStyle/>
          <ns1:p>
            <ns1:pPr algn="ctr"/>
            <ns1:r>
              <ns1:rPr sz="1741" b="0">
                <ns1:solidFill>
                  <ns1:srgbClr val="FFFFFF"/>
                </ns1:solidFill>
                <ns1:latin typeface="Times New Roman"/>
                <ns1:ea typeface="宋体"/>
              </ns1:rPr>
              <ns1:t>5. Application Layer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654828" y="9176446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SwiftUI: Smart Tuner · Smart Fingering Coach · Practice Games · My Progress · Social Hub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654828" y="9530407"/>
            <ns1:ext cx="10264877" cy="353961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r>
              <ns1:rPr sz="1881" b="0">
                <ns1:solidFill>
                  <ns1:srgbClr val="262626"/>
                </ns1:solidFill>
                <ns1:latin typeface="Times New Roman"/>
                <ns1:ea typeface="宋体"/>
              </ns1:rPr>
              <ns1:t>CoreData persistence · Charts growth curves · Lottie gamified animations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407055" y="10300273"/>
            <ns1:ext cx="10158689" cy="300867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 algn="ctr"/>
            <ns1:r>
              <ns1:rPr sz="1393" b="0">
                <ns1:solidFill>
                  <ns1:srgbClr val="5A5A5A"/>
                </ns1:solidFill>
                <ns1:latin typeface="Times New Roman"/>
                <ns1:ea typeface="宋体"/>
              </ns1:rPr>
              <ns1:t>Swift source: 52 files / approx. 13,700 lines · 100% on-device; audio and video never leave the device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</Words>
  <Application>Microsoft Macintosh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355791322@qq.com</cp:lastModifiedBy>
  <cp:revision>2</cp:revision>
  <dcterms:created xsi:type="dcterms:W3CDTF">2013-01-27T09:14:16Z</dcterms:created>
  <dcterms:modified xsi:type="dcterms:W3CDTF">2026-09-29T00:59:32Z</dcterms:modified>
  <cp:category/>
</cp:coreProperties>
</file>